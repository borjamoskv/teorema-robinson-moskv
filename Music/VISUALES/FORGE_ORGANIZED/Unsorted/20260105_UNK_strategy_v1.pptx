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3004800" cy="7315200"/>
  <p:notesSz cx="7315200" cy="13004800"/>
  <p:embeddedFontLst>
    <p:embeddedFont>
      <p:font typeface="Hedvig Letters Sans" charset="-122" pitchFamily="34"/>
      <p:regular r:id="rId14"/>
    </p:embeddedFont>
    <p:embeddedFont>
      <p:font typeface="Quattrocento 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2A2F36"/>
              </a:gs>
            </a:gsLst>
            <a:lin ang="2700000" scaled="1"/>
          </a:gradFill>
          <a:ln/>
        </p:spPr>
      </p:sp>
      <p:pic>
        <p:nvPicPr>
          <p:cNvPr id="3" name="Image 0" descr="https://kimi-img.moonshot.cn/pub/slides/okc/li6uyo5eyqyls/hero_audio_equipment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2" b="7813"/>
          <a:stretch/>
        </p:blipFill>
        <p:spPr>
          <a:xfrm>
            <a:off x="0" y="0"/>
            <a:ext cx="13004800" cy="73152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3237508" y="1752600"/>
            <a:ext cx="6527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spc="-480" kern="0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TT+ AUDIO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92800" y="32766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6" name="Text 3"/>
          <p:cNvSpPr/>
          <p:nvPr/>
        </p:nvSpPr>
        <p:spPr>
          <a:xfrm>
            <a:off x="3034506" y="3632200"/>
            <a:ext cx="693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 de Marketing Creativo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13212" y="4445000"/>
            <a:ext cx="637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Transformando la Excelencia Técnica en Narrativa Emocional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22837" y="5308600"/>
            <a:ext cx="129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INGENIERÍA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0546" y="53086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3016" y="53086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CREATIVIDAD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56463" y="53086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88932" y="5308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03550"/>
            <a:ext cx="4457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ÍNDICE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426085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4" name="Text 2"/>
          <p:cNvSpPr/>
          <p:nvPr/>
        </p:nvSpPr>
        <p:spPr>
          <a:xfrm>
            <a:off x="4461867" y="24892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73663" y="24892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Estratégico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73663" y="28956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Posicionamiento actual y oportunidades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47534" y="24892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59330" y="2489200"/>
            <a:ext cx="300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Clave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59330" y="2895600"/>
            <a:ext cx="297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Descubrimientos y puntos de mejora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61867" y="3810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73663" y="3810000"/>
            <a:ext cx="3187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Oportunidades de Mercado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73663" y="45720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Tendencias y posicionamiento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47534" y="3810000"/>
            <a:ext cx="73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59330" y="3810000"/>
            <a:ext cx="3187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 de Implementación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59330" y="45720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de acción y resultados esperados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2A2F36"/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okc/li6uyo5eyqyls/sound_waves_visual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1875" b="21875"/>
          <a:stretch/>
        </p:blipFill>
        <p:spPr>
          <a:xfrm>
            <a:off x="0" y="0"/>
            <a:ext cx="13004800" cy="7315200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4673501" y="2006600"/>
            <a:ext cx="36576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2800" b="1" dirty="0">
                <a:solidFill>
                  <a:srgbClr val="00A99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27501" y="3733800"/>
            <a:ext cx="314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3701" y="4445000"/>
            <a:ext cx="299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ESTRATÉGICO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89600" y="5257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A99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6205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POSICIONAMIENTO ACTUAL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1517650"/>
            <a:ext cx="695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 Excelencia Técnica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330450"/>
            <a:ext cx="6832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TT+ Audio se posiciona como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líder en sistemas de audio profesional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 70 años de experiencia respaldada por RCF. La marca destaca por su diseño italiano, escalabilidad de sistemas y fiabilidad en tours mundiales.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524250"/>
            <a:ext cx="6832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 público objetivo son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profesionales del audio, instaladores de venues y artistas de nivel mundial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 demandan máxima calidad técnica y rendimiento consistente en entornos exigentes.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5022850"/>
            <a:ext cx="6731000" cy="0"/>
          </a:xfrm>
          <a:prstGeom prst="line">
            <a:avLst/>
          </a:prstGeom>
          <a:noFill/>
          <a:ln w="12700">
            <a:solidFill>
              <a:srgbClr val="364153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66700" y="5340350"/>
            <a:ext cx="184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6550" y="589915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Años de experiencia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513" y="5340350"/>
            <a:ext cx="167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57363" y="5899150"/>
            <a:ext cx="153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Fiabilidad en tours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0073" y="5340350"/>
            <a:ext cx="128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9923" y="589915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Escalabilidad</a:t>
            </a:r>
            <a:endParaRPr lang="en-US" sz="1600" dirty="0"/>
          </a:p>
        </p:txBody>
      </p:sp>
      <p:pic>
        <p:nvPicPr>
          <p:cNvPr id="13" name="Image 0" descr="https://kimi-img.moonshot.cn/pub/slides/okc/li6uyo5eyqyls/creative_workspace.png">    </p:cNvPr>
          <p:cNvPicPr>
            <a:picLocks noChangeAspect="1"/>
          </p:cNvPicPr>
          <p:nvPr/>
        </p:nvPicPr>
        <p:blipFill>
          <a:blip r:embed="rId1"/>
          <a:srcRect l="12597" r="12597" t="0" b="0"/>
          <a:stretch/>
        </p:blipFill>
        <p:spPr>
          <a:xfrm>
            <a:off x="7726660" y="381000"/>
            <a:ext cx="4902200" cy="6553200"/>
          </a:xfrm>
          <a:prstGeom prst="roundRect">
            <a:avLst>
              <a:gd name="adj" fmla="val 2073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603" y="1390650"/>
            <a:ext cx="18295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CLAVE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6700" y="1739900"/>
            <a:ext cx="1247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Descubrimientos Estratégicos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755900"/>
            <a:ext cx="5892800" cy="2082800"/>
          </a:xfrm>
          <a:custGeom>
            <a:avLst/>
            <a:gdLst/>
            <a:ahLst/>
            <a:cxnLst/>
            <a:rect l="l" t="t" r="r" b="b"/>
            <a:pathLst>
              <a:path w="5892800" h="2082800">
                <a:moveTo>
                  <a:pt x="101599" y="0"/>
                </a:moveTo>
                <a:lnTo>
                  <a:pt x="5791201" y="0"/>
                </a:lnTo>
                <a:cubicBezTo>
                  <a:pt x="5847313" y="0"/>
                  <a:pt x="5892800" y="45487"/>
                  <a:pt x="5892800" y="101599"/>
                </a:cubicBezTo>
                <a:lnTo>
                  <a:pt x="5892800" y="1981201"/>
                </a:lnTo>
                <a:cubicBezTo>
                  <a:pt x="5892800" y="2037313"/>
                  <a:pt x="5847313" y="2082800"/>
                  <a:pt x="57912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641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309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6" name="Text 4"/>
          <p:cNvSpPr/>
          <p:nvPr/>
        </p:nvSpPr>
        <p:spPr>
          <a:xfrm>
            <a:off x="1282700" y="3073400"/>
            <a:ext cx="300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Fortalezas Identificadas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500" y="3581400"/>
            <a:ext cx="53721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Identidad sólida basada en </a:t>
            </a:r>
            <a:pPr>
              <a:lnSpc>
                <a:spcPct val="120000"/>
              </a:lnSpc>
              <a:spcBef>
                <a:spcPts val="10"/>
              </a:spcBef>
            </a:pPr>
            <a:r>
              <a:rPr lang="en-US" sz="14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ingeniería premium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Diseño italiano distintivo y elegante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Respaldo de 70 años de RCF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05600" y="2755900"/>
            <a:ext cx="5892800" cy="2082800"/>
          </a:xfrm>
          <a:custGeom>
            <a:avLst/>
            <a:gdLst/>
            <a:ahLst/>
            <a:cxnLst/>
            <a:rect l="l" t="t" r="r" b="b"/>
            <a:pathLst>
              <a:path w="5892800" h="2082800">
                <a:moveTo>
                  <a:pt x="101599" y="0"/>
                </a:moveTo>
                <a:lnTo>
                  <a:pt x="5791201" y="0"/>
                </a:lnTo>
                <a:cubicBezTo>
                  <a:pt x="5847313" y="0"/>
                  <a:pt x="5892800" y="45487"/>
                  <a:pt x="5892800" y="101599"/>
                </a:cubicBezTo>
                <a:lnTo>
                  <a:pt x="5892800" y="1981201"/>
                </a:lnTo>
                <a:cubicBezTo>
                  <a:pt x="5892800" y="2037313"/>
                  <a:pt x="5847313" y="2082800"/>
                  <a:pt x="57912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641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99300" y="3098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10" name="Text 8"/>
          <p:cNvSpPr/>
          <p:nvPr/>
        </p:nvSpPr>
        <p:spPr>
          <a:xfrm>
            <a:off x="7607300" y="30734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Oportunidades de Mejora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23100" y="3581400"/>
            <a:ext cx="53721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Narrativa más accesible para </a:t>
            </a:r>
            <a:pPr>
              <a:lnSpc>
                <a:spcPct val="120000"/>
              </a:lnSpc>
              <a:spcBef>
                <a:spcPts val="10"/>
              </a:spcBef>
            </a:pPr>
            <a:r>
              <a:rPr lang="en-US" sz="14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no-técnicos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apelación lifestyle/emocional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Casos de uso más creativos e inspiradores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3850" y="5270500"/>
            <a:ext cx="12357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marca ha construido una identidad sólida, pero existe una </a:t>
            </a:r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oportunidad en la conexión emocional </a:t>
            </a:r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 audiencias creativas.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86360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OPORTUNIDADES DE MERCADO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12192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Ingeniería Emocional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032000"/>
            <a:ext cx="571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mercado de audio profesional evoluciona hacia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experiencias inmersivas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Existe una tendencia creciente hacia instalaciones audio-visuales, eventos híbridos y una demanda de soluciones que combinen excelencia técnica con impacto emocional.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86200"/>
            <a:ext cx="571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TT+ Audio puede posicionarse como pionero en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'ingeniería emocional'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donde la precisión técnica se encuentra con la expresión artística.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5359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52832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Instalaciones audio-visuales inmersivas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5816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9" name="Text 7"/>
          <p:cNvSpPr/>
          <p:nvPr/>
        </p:nvSpPr>
        <p:spPr>
          <a:xfrm>
            <a:off x="635000" y="57404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Eventos híbridos físico-digitales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6273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" y="6197600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Soluciones técnico-emocionales</a:t>
            </a:r>
            <a:endParaRPr lang="en-US" sz="1600" dirty="0"/>
          </a:p>
        </p:txBody>
      </p:sp>
      <p:pic>
        <p:nvPicPr>
          <p:cNvPr id="12" name="Image 0" descr="https://kimi-img.moonshot.cn/pub/slides/okc/li6uyo5eyqyls/concert_venue.png">    </p:cNvPr>
          <p:cNvPicPr>
            <a:picLocks noChangeAspect="1"/>
          </p:cNvPicPr>
          <p:nvPr/>
        </p:nvPicPr>
        <p:blipFill>
          <a:blip r:embed="rId1"/>
          <a:srcRect l="18863" r="18863" t="0" b="0"/>
          <a:stretch/>
        </p:blipFill>
        <p:spPr>
          <a:xfrm>
            <a:off x="6502400" y="381000"/>
            <a:ext cx="6121400" cy="6553200"/>
          </a:xfrm>
          <a:prstGeom prst="roundRect">
            <a:avLst>
              <a:gd name="adj" fmla="val 166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2A2F36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4653161" y="733425"/>
            <a:ext cx="369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 DE IMPLEMENTACIÓN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69965" y="1089025"/>
            <a:ext cx="6261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EAEBE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 Futuro del Sonido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68450" y="2003425"/>
            <a:ext cx="9867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 TT+ Audio de marca técnica a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00A99D"/>
                </a:solidFill>
                <a:highlight>
                  <a:srgbClr val="00A99D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icono cultural de la excelencia sonora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mediante storytelling emocional, contenido creativo y experiencias inmersivas.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98067" y="3254375"/>
            <a:ext cx="965200" cy="965200"/>
          </a:xfrm>
          <a:custGeom>
            <a:avLst/>
            <a:gdLst/>
            <a:ahLst/>
            <a:cxnLst/>
            <a:rect l="l" t="t" r="r" b="b"/>
            <a:pathLst>
              <a:path w="965200" h="965200">
                <a:moveTo>
                  <a:pt x="482600" y="0"/>
                </a:moveTo>
                <a:lnTo>
                  <a:pt x="482600" y="0"/>
                </a:lnTo>
                <a:cubicBezTo>
                  <a:pt x="748954" y="0"/>
                  <a:pt x="965200" y="216246"/>
                  <a:pt x="965200" y="482600"/>
                </a:cubicBezTo>
                <a:lnTo>
                  <a:pt x="965200" y="482600"/>
                </a:lnTo>
                <a:cubicBezTo>
                  <a:pt x="965200" y="748954"/>
                  <a:pt x="748954" y="965200"/>
                  <a:pt x="482600" y="965200"/>
                </a:cubicBezTo>
                <a:lnTo>
                  <a:pt x="482600" y="965200"/>
                </a:lnTo>
                <a:cubicBezTo>
                  <a:pt x="216246" y="965200"/>
                  <a:pt x="0" y="748954"/>
                  <a:pt x="0" y="482600"/>
                </a:cubicBezTo>
                <a:lnTo>
                  <a:pt x="0" y="482600"/>
                </a:lnTo>
                <a:cubicBezTo>
                  <a:pt x="0" y="216246"/>
                  <a:pt x="216246" y="0"/>
                  <a:pt x="482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A9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8742" y="3571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8" name="Text 6"/>
          <p:cNvSpPr/>
          <p:nvPr/>
        </p:nvSpPr>
        <p:spPr>
          <a:xfrm>
            <a:off x="749300" y="4473575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Storytelling Emocional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350" y="4879975"/>
            <a:ext cx="3479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Conectar con la audiencia a través de narrativas poderosas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4301" y="3254375"/>
            <a:ext cx="965200" cy="965200"/>
          </a:xfrm>
          <a:custGeom>
            <a:avLst/>
            <a:gdLst/>
            <a:ahLst/>
            <a:cxnLst/>
            <a:rect l="l" t="t" r="r" b="b"/>
            <a:pathLst>
              <a:path w="965200" h="965200">
                <a:moveTo>
                  <a:pt x="482600" y="0"/>
                </a:moveTo>
                <a:lnTo>
                  <a:pt x="482600" y="0"/>
                </a:lnTo>
                <a:cubicBezTo>
                  <a:pt x="748954" y="0"/>
                  <a:pt x="965200" y="216246"/>
                  <a:pt x="965200" y="482600"/>
                </a:cubicBezTo>
                <a:lnTo>
                  <a:pt x="965200" y="482600"/>
                </a:lnTo>
                <a:cubicBezTo>
                  <a:pt x="965200" y="748954"/>
                  <a:pt x="748954" y="965200"/>
                  <a:pt x="482600" y="965200"/>
                </a:cubicBezTo>
                <a:lnTo>
                  <a:pt x="482600" y="965200"/>
                </a:lnTo>
                <a:cubicBezTo>
                  <a:pt x="216246" y="965200"/>
                  <a:pt x="0" y="748954"/>
                  <a:pt x="0" y="482600"/>
                </a:cubicBezTo>
                <a:lnTo>
                  <a:pt x="0" y="482600"/>
                </a:lnTo>
                <a:cubicBezTo>
                  <a:pt x="0" y="216246"/>
                  <a:pt x="216246" y="0"/>
                  <a:pt x="482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A9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14976" y="3571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cubicBezTo>
                  <a:pt x="381000" y="191170"/>
                  <a:pt x="381000" y="191839"/>
                  <a:pt x="381000" y="192509"/>
                </a:cubicBezTo>
                <a:cubicBezTo>
                  <a:pt x="380702" y="219670"/>
                  <a:pt x="355997" y="238125"/>
                  <a:pt x="328836" y="238125"/>
                </a:cubicBezTo>
                <a:lnTo>
                  <a:pt x="255984" y="238125"/>
                </a:lnTo>
                <a:cubicBezTo>
                  <a:pt x="236265" y="238125"/>
                  <a:pt x="220266" y="254124"/>
                  <a:pt x="220266" y="273844"/>
                </a:cubicBezTo>
                <a:cubicBezTo>
                  <a:pt x="220266" y="276374"/>
                  <a:pt x="220563" y="278829"/>
                  <a:pt x="221010" y="281211"/>
                </a:cubicBezTo>
                <a:cubicBezTo>
                  <a:pt x="222572" y="288801"/>
                  <a:pt x="225847" y="296094"/>
                  <a:pt x="229046" y="303461"/>
                </a:cubicBezTo>
                <a:cubicBezTo>
                  <a:pt x="233586" y="313730"/>
                  <a:pt x="238051" y="323924"/>
                  <a:pt x="238051" y="334714"/>
                </a:cubicBezTo>
                <a:cubicBezTo>
                  <a:pt x="238051" y="358378"/>
                  <a:pt x="221977" y="379884"/>
                  <a:pt x="198313" y="380851"/>
                </a:cubicBezTo>
                <a:cubicBezTo>
                  <a:pt x="195709" y="380926"/>
                  <a:pt x="193104" y="381000"/>
                  <a:pt x="190426" y="381000"/>
                </a:cubicBezTo>
                <a:cubicBezTo>
                  <a:pt x="85204" y="381000"/>
                  <a:pt x="-74" y="295721"/>
                  <a:pt x="-74" y="190500"/>
                </a:cubicBezTo>
                <a:cubicBezTo>
                  <a:pt x="-74" y="85279"/>
                  <a:pt x="85279" y="0"/>
                  <a:pt x="190500" y="0"/>
                </a:cubicBezTo>
                <a:cubicBezTo>
                  <a:pt x="295721" y="0"/>
                  <a:pt x="381000" y="85279"/>
                  <a:pt x="381000" y="190500"/>
                </a:cubicBezTo>
                <a:close/>
                <a:moveTo>
                  <a:pt x="95250" y="214313"/>
                </a:moveTo>
                <a:cubicBezTo>
                  <a:pt x="95250" y="201170"/>
                  <a:pt x="84580" y="190500"/>
                  <a:pt x="71438" y="190500"/>
                </a:cubicBezTo>
                <a:cubicBezTo>
                  <a:pt x="58295" y="190500"/>
                  <a:pt x="47625" y="201170"/>
                  <a:pt x="47625" y="214313"/>
                </a:cubicBezTo>
                <a:cubicBezTo>
                  <a:pt x="47625" y="227455"/>
                  <a:pt x="58295" y="238125"/>
                  <a:pt x="71438" y="238125"/>
                </a:cubicBezTo>
                <a:cubicBezTo>
                  <a:pt x="84580" y="238125"/>
                  <a:pt x="95250" y="227455"/>
                  <a:pt x="95250" y="214313"/>
                </a:cubicBezTo>
                <a:close/>
                <a:moveTo>
                  <a:pt x="95250" y="142875"/>
                </a:moveTo>
                <a:cubicBezTo>
                  <a:pt x="108392" y="142875"/>
                  <a:pt x="119063" y="132205"/>
                  <a:pt x="119063" y="119063"/>
                </a:cubicBezTo>
                <a:cubicBezTo>
                  <a:pt x="119063" y="105920"/>
                  <a:pt x="108392" y="95250"/>
                  <a:pt x="95250" y="95250"/>
                </a:cubicBezTo>
                <a:cubicBezTo>
                  <a:pt x="82108" y="95250"/>
                  <a:pt x="71438" y="105920"/>
                  <a:pt x="71438" y="119063"/>
                </a:cubicBezTo>
                <a:cubicBezTo>
                  <a:pt x="71438" y="132205"/>
                  <a:pt x="82108" y="142875"/>
                  <a:pt x="95250" y="142875"/>
                </a:cubicBezTo>
                <a:close/>
                <a:moveTo>
                  <a:pt x="214313" y="71438"/>
                </a:move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ubicBezTo>
                  <a:pt x="203642" y="95250"/>
                  <a:pt x="214313" y="84580"/>
                  <a:pt x="214313" y="71438"/>
                </a:cubicBezTo>
                <a:close/>
                <a:moveTo>
                  <a:pt x="285750" y="142875"/>
                </a:moveTo>
                <a:cubicBezTo>
                  <a:pt x="298892" y="142875"/>
                  <a:pt x="309563" y="132205"/>
                  <a:pt x="309563" y="119063"/>
                </a:cubicBezTo>
                <a:cubicBezTo>
                  <a:pt x="309563" y="105920"/>
                  <a:pt x="298892" y="95250"/>
                  <a:pt x="285750" y="95250"/>
                </a:cubicBezTo>
                <a:cubicBezTo>
                  <a:pt x="272608" y="95250"/>
                  <a:pt x="261938" y="105920"/>
                  <a:pt x="261938" y="119063"/>
                </a:cubicBezTo>
                <a:cubicBezTo>
                  <a:pt x="261938" y="132205"/>
                  <a:pt x="272608" y="142875"/>
                  <a:pt x="285750" y="142875"/>
                </a:cubicBez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534" y="4473575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 Creativo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4584" y="4879975"/>
            <a:ext cx="3479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Producciones visuales que inspiren y cautiven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90534" y="3254375"/>
            <a:ext cx="965200" cy="965200"/>
          </a:xfrm>
          <a:custGeom>
            <a:avLst/>
            <a:gdLst/>
            <a:ahLst/>
            <a:cxnLst/>
            <a:rect l="l" t="t" r="r" b="b"/>
            <a:pathLst>
              <a:path w="965200" h="965200">
                <a:moveTo>
                  <a:pt x="482600" y="0"/>
                </a:moveTo>
                <a:lnTo>
                  <a:pt x="482600" y="0"/>
                </a:lnTo>
                <a:cubicBezTo>
                  <a:pt x="748954" y="0"/>
                  <a:pt x="965200" y="216246"/>
                  <a:pt x="965200" y="482600"/>
                </a:cubicBezTo>
                <a:lnTo>
                  <a:pt x="965200" y="482600"/>
                </a:lnTo>
                <a:cubicBezTo>
                  <a:pt x="965200" y="748954"/>
                  <a:pt x="748954" y="965200"/>
                  <a:pt x="482600" y="965200"/>
                </a:cubicBezTo>
                <a:lnTo>
                  <a:pt x="482600" y="965200"/>
                </a:lnTo>
                <a:cubicBezTo>
                  <a:pt x="216246" y="965200"/>
                  <a:pt x="0" y="748954"/>
                  <a:pt x="0" y="482600"/>
                </a:cubicBezTo>
                <a:lnTo>
                  <a:pt x="0" y="482600"/>
                </a:lnTo>
                <a:cubicBezTo>
                  <a:pt x="0" y="216246"/>
                  <a:pt x="216246" y="0"/>
                  <a:pt x="482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A99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11209" y="3571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66911" y="-1860"/>
                </a:moveTo>
                <a:cubicBezTo>
                  <a:pt x="181645" y="-10344"/>
                  <a:pt x="199802" y="-10344"/>
                  <a:pt x="214536" y="-1860"/>
                </a:cubicBezTo>
                <a:lnTo>
                  <a:pt x="345430" y="73670"/>
                </a:lnTo>
                <a:cubicBezTo>
                  <a:pt x="360164" y="82153"/>
                  <a:pt x="369243" y="97929"/>
                  <a:pt x="369243" y="114895"/>
                </a:cubicBezTo>
                <a:lnTo>
                  <a:pt x="369243" y="265956"/>
                </a:lnTo>
                <a:cubicBezTo>
                  <a:pt x="369243" y="282997"/>
                  <a:pt x="360164" y="298698"/>
                  <a:pt x="345430" y="307181"/>
                </a:cubicBezTo>
                <a:lnTo>
                  <a:pt x="214536" y="382860"/>
                </a:lnTo>
                <a:cubicBezTo>
                  <a:pt x="199802" y="391344"/>
                  <a:pt x="181645" y="391344"/>
                  <a:pt x="166911" y="382860"/>
                </a:cubicBezTo>
                <a:lnTo>
                  <a:pt x="36091" y="307330"/>
                </a:lnTo>
                <a:cubicBezTo>
                  <a:pt x="21357" y="298847"/>
                  <a:pt x="12278" y="283071"/>
                  <a:pt x="12278" y="266105"/>
                </a:cubicBezTo>
                <a:lnTo>
                  <a:pt x="12278" y="115044"/>
                </a:lnTo>
                <a:cubicBezTo>
                  <a:pt x="12278" y="98003"/>
                  <a:pt x="21357" y="82302"/>
                  <a:pt x="36091" y="73819"/>
                </a:cubicBezTo>
                <a:lnTo>
                  <a:pt x="166911" y="-1860"/>
                </a:lnTo>
                <a:close/>
                <a:moveTo>
                  <a:pt x="321543" y="266030"/>
                </a:moveTo>
                <a:lnTo>
                  <a:pt x="321543" y="142429"/>
                </a:lnTo>
                <a:lnTo>
                  <a:pt x="214536" y="204192"/>
                </a:lnTo>
                <a:lnTo>
                  <a:pt x="214536" y="327794"/>
                </a:lnTo>
                <a:lnTo>
                  <a:pt x="321543" y="266030"/>
                </a:lnTo>
                <a:close/>
              </a:path>
            </a:pathLst>
          </a:cu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8741767" y="4473575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AEB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Experiencias Inmersivas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0817" y="4879975"/>
            <a:ext cx="3479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Demostraciones que trascienden lo técnico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6243" y="5997575"/>
            <a:ext cx="3568700" cy="558800"/>
          </a:xfrm>
          <a:custGeom>
            <a:avLst/>
            <a:gdLst/>
            <a:ahLst/>
            <a:cxnLst/>
            <a:rect l="l" t="t" r="r" b="b"/>
            <a:pathLst>
              <a:path w="3568700" h="558800">
                <a:moveTo>
                  <a:pt x="279400" y="0"/>
                </a:moveTo>
                <a:lnTo>
                  <a:pt x="3289300" y="0"/>
                </a:lnTo>
                <a:cubicBezTo>
                  <a:pt x="3443505" y="0"/>
                  <a:pt x="3568700" y="125195"/>
                  <a:pt x="3568700" y="279400"/>
                </a:cubicBezTo>
                <a:lnTo>
                  <a:pt x="3568700" y="279400"/>
                </a:lnTo>
                <a:cubicBezTo>
                  <a:pt x="3568700" y="433605"/>
                  <a:pt x="3443505" y="558800"/>
                  <a:pt x="32893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9293" y="6162675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pc="140" kern="0" dirty="0">
                <a:solidFill>
                  <a:srgbClr val="00A99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INICIADA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/mnt/okcomputer/output/tt_audio_marketing_strategy</dc:title>
  <dc:subject>/mnt/okcomputer/output/tt_audio_marketing_strategy</dc:subject>
  <dc:creator>Kimi</dc:creator>
  <cp:lastModifiedBy>Kimi</cp:lastModifiedBy>
  <cp:revision>1</cp:revision>
  <dcterms:created xsi:type="dcterms:W3CDTF">2025-11-13T14:05:27Z</dcterms:created>
  <dcterms:modified xsi:type="dcterms:W3CDTF">2025-11-13T14:05:27Z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{"Label":"/mnt/okcomputer/output/tt_audio_marketing_strategy","ContentProducer":"001191110108MACG2KBH8F10000","ProduceID":"d4au9ptpa8fsedmejt2g","ReservedCode1":"","ContentPropagator":"001191110108MACG2KBH8F20000","PropagateID":"d4au9ptpa8fsedmejt2g","ReservedCode2":""}</vt:lpwstr>
  </property>
</Properties>
</file>